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1"/>
  </p:notesMasterIdLst>
  <p:sldIdLst>
    <p:sldId id="256" r:id="rId2"/>
    <p:sldId id="262" r:id="rId3"/>
    <p:sldId id="261" r:id="rId4"/>
    <p:sldId id="263" r:id="rId5"/>
    <p:sldId id="264" r:id="rId6"/>
    <p:sldId id="265" r:id="rId7"/>
    <p:sldId id="266" r:id="rId8"/>
    <p:sldId id="267" r:id="rId9"/>
    <p:sldId id="257" r:id="rId10"/>
    <p:sldId id="258" r:id="rId11"/>
    <p:sldId id="259" r:id="rId12"/>
    <p:sldId id="268" r:id="rId13"/>
    <p:sldId id="269" r:id="rId14"/>
    <p:sldId id="270" r:id="rId15"/>
    <p:sldId id="260" r:id="rId16"/>
    <p:sldId id="272" r:id="rId17"/>
    <p:sldId id="273" r:id="rId18"/>
    <p:sldId id="274" r:id="rId19"/>
    <p:sldId id="275" r:id="rId20"/>
    <p:sldId id="285" r:id="rId21"/>
    <p:sldId id="271" r:id="rId22"/>
    <p:sldId id="286" r:id="rId23"/>
    <p:sldId id="277" r:id="rId24"/>
    <p:sldId id="278" r:id="rId25"/>
    <p:sldId id="279" r:id="rId26"/>
    <p:sldId id="280" r:id="rId27"/>
    <p:sldId id="281" r:id="rId28"/>
    <p:sldId id="282" r:id="rId29"/>
    <p:sldId id="283" r:id="rId30"/>
  </p:sldIdLst>
  <p:sldSz cx="12192000" cy="6858000"/>
  <p:notesSz cx="6858000" cy="9144000"/>
  <p:defaultTextStyle>
    <a:defPPr>
      <a:defRPr lang="en-P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4" autoAdjust="0"/>
    <p:restoredTop sz="94660"/>
  </p:normalViewPr>
  <p:slideViewPr>
    <p:cSldViewPr snapToGrid="0">
      <p:cViewPr varScale="1">
        <p:scale>
          <a:sx n="85" d="100"/>
          <a:sy n="85" d="100"/>
        </p:scale>
        <p:origin x="77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K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AD0592F-6EDD-48D7-93D1-75ED60E966B1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PK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A0AC69-8D9F-4B74-AF6C-0D95D0277DA2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8626866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K" i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A0AC69-8D9F-4B74-AF6C-0D95D0277DA2}" type="slidenum">
              <a:rPr lang="en-PK" smtClean="0"/>
              <a:t>14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42187570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A0AC69-8D9F-4B74-AF6C-0D95D0277DA2}" type="slidenum">
              <a:rPr lang="en-PK" smtClean="0"/>
              <a:t>18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1084298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46C050-2591-8495-B880-59797FEECA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501ECAC-9738-2075-4829-E8FC296BE6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CD5267-6DAC-9783-5232-22F61EBA8D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AE226F-7483-2822-A8E4-C9B1A767A6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06978E-ADFE-A4C9-3FD0-9234F17D1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2585534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12BFC2-E8F6-10E3-7DFF-618E18FD6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094E0A-2CB9-7EB4-D4D2-13A3FE19B4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6FBFA2-8693-F63C-880F-A74C99B35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B2105B-C0A1-BC6C-798B-7CD1AA6018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7D077F-617C-E6CD-C81B-A2466D13F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1177016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07A30E-E02E-6259-5D81-048E012851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CA66AB-5AAA-6BC5-6528-CFADBC963A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FC25C8-131E-86EB-CA12-86901C9744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BA0E1A-B6B9-60B3-BE35-60EE8249D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AC30C6-1532-548F-37A4-2640C5FD8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631735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AD9801-3A46-E4F8-1274-C2F03D0898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33B6FF-97AC-B7F7-1F8B-4C659A27D8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799112-3ECB-91CD-392E-7DC7227D6A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4D9F5A-7094-4495-2CF2-8C6DB250FF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4C4324-7094-C5E7-7FDF-8970A196F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CDD378-F42E-C70E-AD03-20A1910CA3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8923277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C2557-C799-C709-ED32-FB571B6B27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E9B5A8-DDE8-A55B-DE74-733AE60F19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4D9A81-6ED1-8D13-509F-9F4BEA2018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B80B144-5199-8B1B-44D2-F0CF8D9927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056156C-7D0F-29BF-92D3-921EBD33D55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5B775E7-5ADD-6DDB-0292-90F8B1B306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74A3D95-9EA3-5248-90FF-4BA454FEE0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41A3480-C55D-A106-1C57-CA5F69FE76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094789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56A4B4-30A2-C51F-FC02-430A8154F9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FC5C31E-29F7-CF1B-CE37-7F13B75F3E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5DD01F-81DD-400A-961A-E52602F0F1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BEC690-C609-5E01-4BCF-458081D324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444818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80B6496-54AF-53A2-F68B-372D685F01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42E0C3-FE36-BF46-A705-C6BFEE0853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3EDA75-7493-5990-53AE-9E0BA1A9D4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40059816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03061-5E06-A5C5-DA18-09A2BA2A0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EC9961-515F-85C2-2A04-0F26514D66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9D4132-9D46-B001-64BC-3F6EC4C075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30B48D-1E26-6551-FD8B-2F8CDDC7F3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ADD1FC-FED2-4E91-3A2F-7B97943978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E9F021-C824-C772-1369-581D3E597D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24836560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E2BCBA-DE3D-1B1B-97D1-371B343993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B7DAA01-34BF-7B76-75E8-02FF6F8706E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P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C0FF58-85E7-1BB4-FD49-056459EFB3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ABC79F-29D5-59E7-7380-F539E857C5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D4200B-810E-8BD7-83E0-955F3B3784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4F2006-3A9D-08C0-7B40-009456F62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5447204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173C09-7131-1428-1DDE-F5B534E143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CE6E098-C79A-6B59-D0D8-0B32087898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C520D6-FC58-9156-3B7F-FCF0F91D24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EF344A-FBE9-A3E5-963D-2E06BB2BD7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C6B2F2-5DFE-0138-D60E-EC4F53E6F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7126657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1AB563D-34E4-7096-1147-CE9240F3252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569C07C-D60F-B2F0-BB76-BA531C7F5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DE289E-2496-BB29-1831-67F6C4B27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52DF20-645B-B82F-5B44-6267608522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FA5BC6-7E37-5611-6AE8-5A757B1EF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4597012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27B2E96-CB33-5A54-F1C3-6887ED4077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D6D5D3-D3B1-1098-84B5-146BE1EEBC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5FB544-A635-7703-B08F-93710B6891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E05D75-E0CA-130B-393C-96E0E3FEAED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5E218F-05B9-8112-09ED-08E91D17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9397206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P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hyperlink" Target="https://fopps-uok.online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8A8B98-5997-D273-5524-A2551DAF342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DEAN ACCESS ROLE</a:t>
            </a:r>
            <a:endParaRPr lang="en-PK" b="1" dirty="0">
              <a:solidFill>
                <a:srgbClr val="0070C0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CE1F9A-EDE8-81AF-7B1D-2CA17029880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FOPPS ONLINE CLASS PORTAL</a:t>
            </a:r>
          </a:p>
          <a:p>
            <a:r>
              <a:rPr lang="en-US" dirty="0">
                <a:solidFill>
                  <a:schemeClr val="accent2"/>
                </a:solidFill>
                <a:hlinkClick r:id="rId2"/>
              </a:rPr>
              <a:t>https://fopps-uok.online/</a:t>
            </a:r>
            <a:r>
              <a:rPr lang="en-US" dirty="0">
                <a:solidFill>
                  <a:schemeClr val="accent2"/>
                </a:solidFill>
              </a:rPr>
              <a:t> </a:t>
            </a:r>
            <a:endParaRPr lang="en-PK" dirty="0">
              <a:solidFill>
                <a:schemeClr val="accent2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E82F8B0-0570-FE5A-5F0E-4E541B2E7674}"/>
              </a:ext>
            </a:extLst>
          </p:cNvPr>
          <p:cNvSpPr txBox="1"/>
          <p:nvPr/>
        </p:nvSpPr>
        <p:spPr>
          <a:xfrm>
            <a:off x="146756" y="6096000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C484CBE2-A2C5-E4AC-AD2A-8AD0B789FF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7356" y="392668"/>
            <a:ext cx="2286000" cy="2000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028095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34547-9ECA-CA91-AB19-9E36D7DC2E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FOPPS-UOK.ONLINE PAGE</a:t>
            </a:r>
            <a:endParaRPr lang="en-PK" b="1" dirty="0">
              <a:solidFill>
                <a:srgbClr val="0070C0"/>
              </a:solidFill>
            </a:endParaRP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C994F887-9C0F-9A06-2056-C34334F1030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1396646"/>
            <a:ext cx="12039600" cy="494770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1C220E6-1800-F1E5-DC74-30545F0229EE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321150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05639-7546-9407-8C22-169A616DB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LOGIN PAGE</a:t>
            </a:r>
            <a:endParaRPr lang="en-PK" b="1" dirty="0">
              <a:solidFill>
                <a:srgbClr val="0070C0"/>
              </a:solidFill>
            </a:endParaRP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B06A6837-8D1C-50B0-896A-89330B2437C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407378" y="270933"/>
            <a:ext cx="5944833" cy="6333067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94440B-F70A-5FF9-2205-8194C804D7CF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The Login page of Portal is Sign-In Access</a:t>
            </a:r>
          </a:p>
          <a:p>
            <a:endParaRPr lang="en-US" dirty="0"/>
          </a:p>
          <a:p>
            <a:r>
              <a:rPr lang="en-US" dirty="0"/>
              <a:t>Login to Portal to access by inserting:</a:t>
            </a:r>
          </a:p>
          <a:p>
            <a:r>
              <a:rPr lang="en-US" b="1" dirty="0"/>
              <a:t>Email Address</a:t>
            </a:r>
          </a:p>
          <a:p>
            <a:r>
              <a:rPr lang="en-US" b="1" dirty="0"/>
              <a:t>Password</a:t>
            </a:r>
          </a:p>
          <a:p>
            <a:endParaRPr lang="en-US" dirty="0"/>
          </a:p>
          <a:p>
            <a:r>
              <a:rPr lang="en-US" dirty="0"/>
              <a:t>Click Sign In to get access</a:t>
            </a:r>
          </a:p>
          <a:p>
            <a:endParaRPr lang="en-PK" dirty="0"/>
          </a:p>
        </p:txBody>
      </p:sp>
    </p:spTree>
    <p:extLst>
      <p:ext uri="{BB962C8B-B14F-4D97-AF65-F5344CB8AC3E}">
        <p14:creationId xmlns:p14="http://schemas.microsoft.com/office/powerpoint/2010/main" val="26007792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6627F3-47A4-3FD2-419D-B9D29DAD56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1FA9E7-73B0-4568-061E-731E7D349B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Reset Password</a:t>
            </a:r>
            <a:endParaRPr lang="en-PK" b="1" dirty="0">
              <a:solidFill>
                <a:srgbClr val="0070C0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5A7565-A8AE-37FF-783B-8B8D9262A2C0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The confirmation message shown  on screen for Password Link Sent to the respective Email Address</a:t>
            </a:r>
          </a:p>
          <a:p>
            <a:endParaRPr lang="en-PK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B36F299-0C13-AB5D-F11D-35F6148424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561D4C5-B918-DF84-BDA7-FBD9A0F947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6133" y="0"/>
            <a:ext cx="7055556" cy="637822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345D980-CD75-838B-D401-8DB7D98C814C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337347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21301-B623-B8F8-C40B-8C24E9D972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F0CAE0-7B01-10E1-2162-0A5605C9CE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70C0"/>
                </a:solidFill>
              </a:rPr>
              <a:t>Email Received for Reset Link</a:t>
            </a:r>
            <a:endParaRPr lang="en-PK" dirty="0">
              <a:solidFill>
                <a:srgbClr val="0070C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0549EC-D42B-05E1-0319-9A3D831704BC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D48F520-9E03-C310-D022-34550E53A6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775371"/>
            <a:ext cx="8725101" cy="3307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06603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E9811-B767-D58E-7C0F-5951ACC4C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24ED0D-7A7C-0D98-B7C6-1DBB93031F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Reset Password</a:t>
            </a:r>
            <a:endParaRPr lang="en-PK" b="1" dirty="0">
              <a:solidFill>
                <a:srgbClr val="0070C0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345E06-DEED-D8B6-6179-FF6EF2F0119D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You will choose new password.</a:t>
            </a:r>
          </a:p>
          <a:p>
            <a:endParaRPr lang="en-PK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1C36F93-F27F-8E69-8E1C-6F4A903F7B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C805266-21D8-C692-4D37-F9D08D86ED22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790707B-CBE8-A0CB-96E6-D1701C35D3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4985" y="0"/>
            <a:ext cx="6637726" cy="6261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5684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C6B399-AC1C-5E1D-5927-0A7A63E8E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70E369-BFA4-3DAA-406F-AF0C219CA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Reset Password</a:t>
            </a:r>
            <a:endParaRPr lang="en-PK" b="1" dirty="0">
              <a:solidFill>
                <a:srgbClr val="0070C0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7C57E4-B7DB-9435-8DDF-E9C7EEF67FCA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Confirmation on Screen about Password changed.</a:t>
            </a:r>
          </a:p>
          <a:p>
            <a:r>
              <a:rPr lang="en-US" dirty="0"/>
              <a:t>You will login with New Password.</a:t>
            </a:r>
          </a:p>
          <a:p>
            <a:endParaRPr lang="en-PK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36D23433-85D2-3302-9C2C-56FF1843BC7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197600" y="626181"/>
            <a:ext cx="4865511" cy="569559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8CE0525-2852-079A-A795-5141E481C4BB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633511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0693D1-D021-A8FE-1242-0BEB81A248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CDC89C-7D86-72DB-394F-52C352F812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LOGIN PAGE</a:t>
            </a:r>
            <a:endParaRPr lang="en-PK" b="1" dirty="0">
              <a:solidFill>
                <a:srgbClr val="0070C0"/>
              </a:solidFill>
            </a:endParaRP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3ADD5F89-AB4C-6670-75D3-DE32207E799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407378" y="270933"/>
            <a:ext cx="5944833" cy="6333067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707A09-7CB4-4B34-4643-919D09C3AA41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The Login page of Portal is Sign-In Access</a:t>
            </a:r>
          </a:p>
          <a:p>
            <a:endParaRPr lang="en-US" dirty="0"/>
          </a:p>
          <a:p>
            <a:r>
              <a:rPr lang="en-US" dirty="0"/>
              <a:t>Login to Portal to access by inserting:</a:t>
            </a:r>
          </a:p>
          <a:p>
            <a:r>
              <a:rPr lang="en-US" b="1" dirty="0"/>
              <a:t>Email Address</a:t>
            </a:r>
          </a:p>
          <a:p>
            <a:r>
              <a:rPr lang="en-US" b="1" dirty="0"/>
              <a:t>Password</a:t>
            </a:r>
          </a:p>
          <a:p>
            <a:endParaRPr lang="en-US" dirty="0"/>
          </a:p>
          <a:p>
            <a:r>
              <a:rPr lang="en-US" dirty="0">
                <a:solidFill>
                  <a:srgbClr val="FF0000"/>
                </a:solidFill>
              </a:rPr>
              <a:t>Click Sign In with new password to get access</a:t>
            </a:r>
          </a:p>
          <a:p>
            <a:endParaRPr lang="en-PK" dirty="0"/>
          </a:p>
        </p:txBody>
      </p:sp>
    </p:spTree>
    <p:extLst>
      <p:ext uri="{BB962C8B-B14F-4D97-AF65-F5344CB8AC3E}">
        <p14:creationId xmlns:p14="http://schemas.microsoft.com/office/powerpoint/2010/main" val="8519965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34547-9ECA-CA91-AB19-9E36D7DC2E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8544F2-8813-DD1E-DE98-62C9EB1C4D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C220E6-1800-F1E5-DC74-30545F0229EE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8E7E044-B92B-FE5B-5716-B365E2EE64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40003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6810F9D-D1E7-F720-1327-3AA66B99283A}"/>
              </a:ext>
            </a:extLst>
          </p:cNvPr>
          <p:cNvSpPr txBox="1"/>
          <p:nvPr/>
        </p:nvSpPr>
        <p:spPr>
          <a:xfrm>
            <a:off x="1941689" y="4312356"/>
            <a:ext cx="616373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This is Dean (Super Admin) Access Dashboard and Dean has complete access of all Departments, Faculty Members, Courses and Students.</a:t>
            </a:r>
            <a:r>
              <a:rPr lang="en-US" dirty="0"/>
              <a:t> </a:t>
            </a:r>
            <a:endParaRPr lang="en-PK" dirty="0"/>
          </a:p>
        </p:txBody>
      </p:sp>
    </p:spTree>
    <p:extLst>
      <p:ext uri="{BB962C8B-B14F-4D97-AF65-F5344CB8AC3E}">
        <p14:creationId xmlns:p14="http://schemas.microsoft.com/office/powerpoint/2010/main" val="39502290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3CCF33-EBDC-EFCA-3651-9B5809E8C5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ACBAA-6685-11AE-B969-CAB25E0A2A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456A63-4A11-9D1D-30C1-D496CC83C6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CC819DA-522B-2A13-944F-626853BC3536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92FE8D5-3363-053D-1532-28E35E053D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35754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8D940F8-F89E-7673-A2D7-0815E7A9D059}"/>
              </a:ext>
            </a:extLst>
          </p:cNvPr>
          <p:cNvSpPr txBox="1"/>
          <p:nvPr/>
        </p:nvSpPr>
        <p:spPr>
          <a:xfrm>
            <a:off x="8771466" y="4001294"/>
            <a:ext cx="31834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Dean can Change HOD of Any department by click Edit Button</a:t>
            </a:r>
            <a:endParaRPr lang="en-PK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473025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32339E-8BAC-FC16-27CC-9125F25190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AE2C35-CDBA-4D1E-3CB7-FE3D07CD87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FA6624-A255-A435-ED63-54FCC59CA2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821F8C2-020A-DF89-1D85-99BF516ECF41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C06891B-B370-44A4-F58F-13D4144C2B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4008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CA098C6-35DD-695A-9B18-D6B2A1D5B6B4}"/>
              </a:ext>
            </a:extLst>
          </p:cNvPr>
          <p:cNvSpPr txBox="1"/>
          <p:nvPr/>
        </p:nvSpPr>
        <p:spPr>
          <a:xfrm>
            <a:off x="5853289" y="4001294"/>
            <a:ext cx="618631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DEAN (ADMIN) CAN SET COURSES ACTIVE AS PER SEMESTER AND ALSO INDIVIDUAL COURSE.</a:t>
            </a:r>
          </a:p>
          <a:p>
            <a:r>
              <a:rPr lang="en-US" b="1" dirty="0">
                <a:solidFill>
                  <a:srgbClr val="FF0000"/>
                </a:solidFill>
              </a:rPr>
              <a:t>MANAGE ALL COURSES AND ALSO ADD NEW COURSES TOO</a:t>
            </a:r>
            <a:endParaRPr lang="en-PK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758981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FC18F-3B32-D7EF-4416-67DB61DCC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EDDEF8-270B-0B21-E3DF-3F46323F11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112" y="457200"/>
            <a:ext cx="4376914" cy="1600200"/>
          </a:xfrm>
        </p:spPr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Manager Course Material</a:t>
            </a:r>
            <a:endParaRPr lang="en-PK" b="1" dirty="0">
              <a:solidFill>
                <a:srgbClr val="0070C0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4AA340-BF76-7D39-AC56-C585CFE37C02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Admin / Faculty (Teacher) can manage Course Content:</a:t>
            </a:r>
          </a:p>
          <a:p>
            <a:pPr marL="285750" indent="-285750">
              <a:buFontTx/>
              <a:buChar char="-"/>
            </a:pPr>
            <a:r>
              <a:rPr lang="en-US" dirty="0"/>
              <a:t>Add Any Document </a:t>
            </a:r>
          </a:p>
          <a:p>
            <a:pPr marL="285750" indent="-285750">
              <a:buFontTx/>
              <a:buChar char="-"/>
            </a:pPr>
            <a:r>
              <a:rPr lang="en-US" dirty="0"/>
              <a:t>Add any Image </a:t>
            </a:r>
          </a:p>
          <a:p>
            <a:pPr marL="285750" indent="-285750">
              <a:buFontTx/>
              <a:buChar char="-"/>
            </a:pPr>
            <a:r>
              <a:rPr lang="en-US" dirty="0"/>
              <a:t>Add YouTube Video</a:t>
            </a:r>
          </a:p>
          <a:p>
            <a:pPr marL="285750" indent="-285750">
              <a:buFontTx/>
              <a:buChar char="-"/>
            </a:pPr>
            <a:r>
              <a:rPr lang="en-US" dirty="0"/>
              <a:t>Add Video after uploading on Google Drive and share Link here</a:t>
            </a:r>
          </a:p>
          <a:p>
            <a:pPr marL="285750" indent="-285750">
              <a:buFontTx/>
              <a:buChar char="-"/>
            </a:pPr>
            <a:r>
              <a:rPr lang="en-US" dirty="0"/>
              <a:t>Add </a:t>
            </a:r>
            <a:r>
              <a:rPr lang="en-US" b="1" dirty="0">
                <a:solidFill>
                  <a:srgbClr val="FF0000"/>
                </a:solidFill>
              </a:rPr>
              <a:t>Scheduled Lecture</a:t>
            </a:r>
            <a:r>
              <a:rPr lang="en-US" dirty="0"/>
              <a:t> by uploading Video Lecture on Google Drive and share Link here</a:t>
            </a:r>
            <a:endParaRPr lang="en-PK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123E6C1-2D8A-F5FC-1C1D-12072E0324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066FB67-EE8B-62C5-E7B2-934FECE8BF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3187" y="-4764"/>
            <a:ext cx="6331480" cy="649343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CDF46B3-4465-6E17-B298-DCB7CB2D27E4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592156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66F889-19D2-7599-F698-804676332C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5E5550-B204-1408-B380-CF2F2C525B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112" y="457200"/>
            <a:ext cx="4376914" cy="1600200"/>
          </a:xfrm>
        </p:spPr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Assignment</a:t>
            </a:r>
            <a:endParaRPr lang="en-PK" b="1" dirty="0">
              <a:solidFill>
                <a:srgbClr val="0070C0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2E2F24-CC6C-0EF2-40D2-06A745C72D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55488" y="2057400"/>
            <a:ext cx="3932237" cy="3811588"/>
          </a:xfrm>
        </p:spPr>
        <p:txBody>
          <a:bodyPr/>
          <a:lstStyle/>
          <a:p>
            <a:r>
              <a:rPr lang="en-US" dirty="0"/>
              <a:t>Dean / Faculty (Teacher) can add any assignment of their course.</a:t>
            </a:r>
          </a:p>
          <a:p>
            <a:endParaRPr lang="en-US" dirty="0"/>
          </a:p>
          <a:p>
            <a:r>
              <a:rPr lang="en-US" dirty="0"/>
              <a:t>Option is available within Manage Material</a:t>
            </a:r>
          </a:p>
          <a:p>
            <a:endParaRPr lang="en-US" dirty="0"/>
          </a:p>
          <a:p>
            <a:r>
              <a:rPr lang="en-US" dirty="0"/>
              <a:t>Submission also showing </a:t>
            </a:r>
            <a:r>
              <a:rPr lang="en-US" dirty="0" err="1"/>
              <a:t>alongwith</a:t>
            </a:r>
            <a:r>
              <a:rPr lang="en-US" dirty="0"/>
              <a:t> assignment posted </a:t>
            </a:r>
            <a:endParaRPr lang="en-PK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04DCB55-EEE0-27C5-318F-5BA58AFBAF3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98206" y="140758"/>
            <a:ext cx="5306772" cy="622617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D56C92C-6B61-9005-5663-F20FEC631D82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916213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25D15A-CA06-A474-77E1-28F186F1D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D5686-C278-7EB7-9311-FBDDC4A395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112" y="457200"/>
            <a:ext cx="4376914" cy="1600200"/>
          </a:xfrm>
        </p:spPr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Quiz</a:t>
            </a:r>
            <a:endParaRPr lang="en-PK" b="1" dirty="0">
              <a:solidFill>
                <a:srgbClr val="0070C0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E8DAA50-7C25-E903-18F6-FB8684BAF070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Dean / Faculty (Teacher) can add Quiz for their Course.</a:t>
            </a:r>
          </a:p>
          <a:p>
            <a:r>
              <a:rPr lang="en-US" dirty="0"/>
              <a:t>The Course result will be autogenerated and will be available in Quiz and Report Section.</a:t>
            </a:r>
          </a:p>
          <a:p>
            <a:endParaRPr lang="en-US" dirty="0"/>
          </a:p>
          <a:p>
            <a:r>
              <a:rPr lang="en-US" dirty="0"/>
              <a:t>The Quiz is time based and is from start date/time to end date/time</a:t>
            </a:r>
          </a:p>
          <a:p>
            <a:endParaRPr lang="en-US" dirty="0"/>
          </a:p>
          <a:p>
            <a:r>
              <a:rPr lang="en-US" dirty="0"/>
              <a:t>The Quiz is of certain marks and Admin/Faculty (Teacher) also set passing percentage</a:t>
            </a:r>
            <a:endParaRPr lang="en-PK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6DB1A4D-63E8-1380-74BD-94AD69579B0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246095" y="457200"/>
            <a:ext cx="5020216" cy="603146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EF27E48-08F4-C448-4F4F-26B28AB8E9EF}"/>
              </a:ext>
            </a:extLst>
          </p:cNvPr>
          <p:cNvSpPr txBox="1"/>
          <p:nvPr/>
        </p:nvSpPr>
        <p:spPr>
          <a:xfrm>
            <a:off x="304800" y="6866846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498957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78392-D9D5-CDE8-7220-EAC66C296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096DB1-0122-FD08-EE81-700B4290AC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109D7B-0C57-1242-7E0F-0968CA64C5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CC7DFE4-2427-51E7-316F-DAA32FF1A710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1634772-FF00-F901-61C7-74218AA441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4008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42835E5-13B6-4D44-ECEF-6ECAA5FDB8E5}"/>
              </a:ext>
            </a:extLst>
          </p:cNvPr>
          <p:cNvSpPr txBox="1"/>
          <p:nvPr/>
        </p:nvSpPr>
        <p:spPr>
          <a:xfrm>
            <a:off x="2506133" y="3883378"/>
            <a:ext cx="815057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Admin and Dean Office (Sub-Admin) be able to Access Enrollment Section and can Allow Student to Access Portal after Approve the Account.</a:t>
            </a:r>
            <a:endParaRPr lang="en-PK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38662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88D29-524E-9030-DDF9-2FFBFB948A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45430A-9B0F-D826-8B17-198B41B9B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86B506-1C06-0EC6-7279-1083653DB0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89A75D-8D27-03FF-9B3B-4F371BF90BCE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BFCBF52-5753-10B4-5522-7C642C9474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"/>
            <a:ext cx="12192000" cy="631048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8704BFE-ED11-DC85-CF4F-7A1E80A7DC7A}"/>
              </a:ext>
            </a:extLst>
          </p:cNvPr>
          <p:cNvSpPr txBox="1"/>
          <p:nvPr/>
        </p:nvSpPr>
        <p:spPr>
          <a:xfrm>
            <a:off x="4752622" y="2585156"/>
            <a:ext cx="529448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1:1 CHAT / MESSENGER between Faculty Members (Teachers), HODs, Dean Office and Dean 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>
                <a:solidFill>
                  <a:srgbClr val="FF0000"/>
                </a:solidFill>
              </a:rPr>
              <a:t>Any Member will send message to other.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>
                <a:solidFill>
                  <a:srgbClr val="FF0000"/>
                </a:solidFill>
              </a:rPr>
              <a:t>100% Encrypted chat</a:t>
            </a:r>
            <a:endParaRPr lang="en-PK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39480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7AA6B0-EA62-B8D9-8F4B-172F4765AA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E2A8D-D636-1277-EDFA-23D14389CD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FE47A1-F6C3-36E9-C876-936D3582C1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C7E35E-6DD7-E97D-C057-8FC8E3849A14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4E0B199-697B-C23C-2F09-AC7CF64CC9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3780"/>
            <a:ext cx="12192000" cy="624186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E380240-E81A-BE02-3418-E6B78A0E0B59}"/>
              </a:ext>
            </a:extLst>
          </p:cNvPr>
          <p:cNvSpPr txBox="1"/>
          <p:nvPr/>
        </p:nvSpPr>
        <p:spPr>
          <a:xfrm>
            <a:off x="7382933" y="3429000"/>
            <a:ext cx="4346223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Live Classes Page showing Schedule Lectured within any Course by Admin / Teacher and also Live Session created in this Page.</a:t>
            </a:r>
            <a:endParaRPr lang="en-PK" sz="28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24462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246CC1-3EEE-232A-97DB-FDE4C5C155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104813-3D9C-C967-DC29-4AD9601659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06C792-BEAC-10DB-D9C5-1A1AF109E2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D38232D-3758-F081-79C7-76848A9D49C7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A1BE073-F22C-1ECE-0574-592AB46044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311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28560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5254DB-ADA3-B7BE-4C31-7D082AB7B2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76479-9A84-D6EA-14FD-C38201841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B52420-4189-3275-0B03-096F7A5600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A7E4356-78CB-9D4C-4101-1CD06109856B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D6016C9-7696-20EC-D719-AE9FE34C52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493530" cy="617696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44936C1-A9CF-9D0A-1E8E-2B2C9E9260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3530" y="0"/>
            <a:ext cx="4698470" cy="617696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7977849-CE9E-AE25-2E72-0ED334499FBE}"/>
              </a:ext>
            </a:extLst>
          </p:cNvPr>
          <p:cNvSpPr txBox="1"/>
          <p:nvPr/>
        </p:nvSpPr>
        <p:spPr>
          <a:xfrm>
            <a:off x="688622" y="5159022"/>
            <a:ext cx="596670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Dean (Admin) and Sub-Admin (Dean Office) will send any kind of notification to Faculty Members and Students.</a:t>
            </a:r>
          </a:p>
          <a:p>
            <a:r>
              <a:rPr lang="en-US" sz="2000" b="1" dirty="0">
                <a:solidFill>
                  <a:srgbClr val="FF0000"/>
                </a:solidFill>
              </a:rPr>
              <a:t>Also send selected message.</a:t>
            </a:r>
            <a:endParaRPr lang="en-PK" sz="20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841599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058DD3-5E18-AA42-0926-509EBDC3EC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685ADD-97A9-323B-38E9-EB0F2A2B13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F00411-5327-01CA-9759-C503554DBA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0DBB94-A7F1-0908-C6CA-812FCAA1CB1E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47AD79F-F674-6999-8751-67C8E8CEA8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"/>
            <a:ext cx="12192000" cy="617696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ADBF171-DAFA-60D2-ACD8-119BDE2819BD}"/>
              </a:ext>
            </a:extLst>
          </p:cNvPr>
          <p:cNvSpPr txBox="1"/>
          <p:nvPr/>
        </p:nvSpPr>
        <p:spPr>
          <a:xfrm>
            <a:off x="3183467" y="3905956"/>
            <a:ext cx="631048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In Result Page, Teacher, HOD and Admin will be able to Post and Access Result of any Subject which will be viewable to higher </a:t>
            </a:r>
            <a:r>
              <a:rPr lang="en-US" b="1" dirty="0" err="1">
                <a:solidFill>
                  <a:srgbClr val="FF0000"/>
                </a:solidFill>
              </a:rPr>
              <a:t>hirerchy</a:t>
            </a:r>
            <a:r>
              <a:rPr lang="en-US" b="1" dirty="0">
                <a:solidFill>
                  <a:srgbClr val="FF0000"/>
                </a:solidFill>
              </a:rPr>
              <a:t>.</a:t>
            </a:r>
          </a:p>
          <a:p>
            <a:r>
              <a:rPr lang="en-US" b="1" dirty="0">
                <a:solidFill>
                  <a:srgbClr val="FF0000"/>
                </a:solidFill>
              </a:rPr>
              <a:t>Like any Teacher post Result then it will be viewable to respective HOD and Dean.</a:t>
            </a:r>
            <a:endParaRPr lang="en-PK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90796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BA152D-5B34-3F9A-AF64-72CEFEF066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7154D9-37A3-1FFB-D4F0-070CC3271F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B29319-F0A7-21BA-41BE-BEB40DA226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E565390-5C24-CAE4-E92E-9F3FCE8366A5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CE91497-74AB-C859-CAC4-609EBB3D31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27662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A857F7E-8077-3723-8DB7-240ADF0280AA}"/>
              </a:ext>
            </a:extLst>
          </p:cNvPr>
          <p:cNvSpPr txBox="1"/>
          <p:nvPr/>
        </p:nvSpPr>
        <p:spPr>
          <a:xfrm>
            <a:off x="3149600" y="4301067"/>
            <a:ext cx="67394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Dean Office (Sub-Admin) and Dean (Admin) able to add Examination Date Sheet and Exam Results will be added by respective Teacher</a:t>
            </a:r>
            <a:endParaRPr lang="en-PK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458637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28CEC-B39E-5887-06DF-A3A7BC89B0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BD4E10-CF2E-EBA3-5BFD-411E6D14B8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A0FBDC-596F-56E7-2BC8-9F070F7B0F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CD3557-C7DC-0B07-9832-ECC114F81296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8DD3AEE-CD37-6ADB-B5E2-EC399E20E7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5985"/>
            <a:ext cx="12192000" cy="602097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F9B2BDA-1DB4-4C9C-D1FD-C995DBB7DACA}"/>
              </a:ext>
            </a:extLst>
          </p:cNvPr>
          <p:cNvSpPr txBox="1"/>
          <p:nvPr/>
        </p:nvSpPr>
        <p:spPr>
          <a:xfrm>
            <a:off x="8669867" y="2585156"/>
            <a:ext cx="2946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Semester Wise Time Table will be added by Dean Office and Department Head and also by Dean (Admin)</a:t>
            </a:r>
            <a:endParaRPr lang="en-PK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1665778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E06EE6-8F80-90D0-A71C-813E0F7837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D4873-4B1F-2597-CC48-B88363BDF2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0141CE-794C-294B-994E-DD9F78C434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3B80B46-BE65-315D-1644-32F1C7A92892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5230427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8E689E-B663-6FF1-F322-BD2B82E53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39784-20F1-C71D-3B74-3F5FEE2AD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93DFDC-DB58-91F3-1027-17572604DC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2798EF-2731-7C06-87CD-E17F5E6EEF1B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124048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B10E7A-800C-0637-6C1E-1CF9EBD9C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9EA67-62AB-45D8-4D3D-F0778D4221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55F787-AC9E-D0C4-FEFB-6E92A42F30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15C527-6EE0-8885-6A2A-EDFE1867EF60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7940098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C60F1C-5A46-1C47-DFA8-F75A6F5BA6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8EB5F9-1CBA-BCDD-E20D-2B4EB5164B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4223A0-C882-E190-FC04-3B4669DE5A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F841AD-58DF-60B1-7769-88531D3094D0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5101716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02EE3B-F4FB-2E10-2AA3-E80A913BB9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030AB6-BC94-BA02-84D5-2CED395B05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63503B-1A5F-E5D1-8222-FB6975B5A9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4CDEE3D-B3B3-480D-53EB-5C40A0B0197C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4867327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C9143-941C-458E-6559-70E33C495D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890E13-F7EF-1456-83A1-F2CE5A067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9AC81C-17BD-D1B7-14F7-827361DB61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F3FC56-3FEF-5549-7834-568024F63D5F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896239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7AD216-50C4-3BB1-105A-39608BD9C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2CA1D-39B5-8B4A-9EB7-C8093BB6D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8030FF-1C9B-3015-D68B-28D9224E88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9EA3CEA-E7FB-CAB9-94A3-E611D11D86FD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441008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585</TotalTime>
  <Words>729</Words>
  <Application>Microsoft Office PowerPoint</Application>
  <PresentationFormat>Widescreen</PresentationFormat>
  <Paragraphs>94</Paragraphs>
  <Slides>29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3" baseType="lpstr">
      <vt:lpstr>Arial</vt:lpstr>
      <vt:lpstr>Calibri</vt:lpstr>
      <vt:lpstr>Calibri Light</vt:lpstr>
      <vt:lpstr>Office Theme</vt:lpstr>
      <vt:lpstr>DEAN ACCESS ROLE</vt:lpstr>
      <vt:lpstr>FOPPS-UOK.ONLINE PAGE</vt:lpstr>
      <vt:lpstr>LOGIN PAGE</vt:lpstr>
      <vt:lpstr>Reset Password</vt:lpstr>
      <vt:lpstr>Email Received for Reset Link</vt:lpstr>
      <vt:lpstr>Reset Password</vt:lpstr>
      <vt:lpstr>Reset Password</vt:lpstr>
      <vt:lpstr>LOGIN PAGE</vt:lpstr>
      <vt:lpstr>PowerPoint Presentation</vt:lpstr>
      <vt:lpstr>PowerPoint Presentation</vt:lpstr>
      <vt:lpstr>PowerPoint Presentation</vt:lpstr>
      <vt:lpstr>Manager Course Material</vt:lpstr>
      <vt:lpstr>Assignment</vt:lpstr>
      <vt:lpstr>Quiz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softsols2025@hotmail.com</dc:creator>
  <cp:lastModifiedBy>softsols2025@hotmail.com</cp:lastModifiedBy>
  <cp:revision>22</cp:revision>
  <dcterms:created xsi:type="dcterms:W3CDTF">2026-03-28T14:25:03Z</dcterms:created>
  <dcterms:modified xsi:type="dcterms:W3CDTF">2026-03-29T10:21:51Z</dcterms:modified>
</cp:coreProperties>
</file>